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6" r:id="rId23"/>
    <p:sldId id="279" r:id="rId24"/>
    <p:sldId id="280" r:id="rId25"/>
    <p:sldId id="281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47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950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34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458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652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1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9829" y="1386036"/>
            <a:ext cx="6244194" cy="738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spcBef>
                <a:spcPts val="3600"/>
              </a:spcBef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Keyboard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043766" y="2329011"/>
            <a:ext cx="705632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spcBef>
                <a:spcPts val="1800"/>
              </a:spcBef>
              <a:spcAft>
                <a:spcPts val="3000"/>
              </a:spcAft>
              <a:buNone/>
            </a:pPr>
            <a:r>
              <a:rPr lang="en-US" sz="28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Usability, Performance &amp;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75792" y="3154412"/>
            <a:ext cx="719226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 Analysis &amp; Technical Implementation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78394" y="3922663"/>
            <a:ext cx="598706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spcBef>
                <a:spcPts val="3000"/>
              </a:spcBef>
              <a:spcAft>
                <a:spcPts val="11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Pangestu et al. (2014) &amp; Findlater et al. (2015)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>
            <a:extLst>
              <a:ext uri="{FF2B5EF4-FFF2-40B4-BE49-F238E27FC236}">
                <a16:creationId xmlns:a16="http://schemas.microsoft.com/office/drawing/2014/main" id="{BBB2C293-D1EA-F5E2-29D9-7F5CD4D80327}"/>
              </a:ext>
            </a:extLst>
          </p:cNvPr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09650"/>
            <a:ext cx="854964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keyboards have become essential input interfaces with the rise of touchscreen devices and wearables.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543050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628775"/>
            <a:ext cx="81610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Touchscreen Dominance: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mobile interactions occur via touch interfaces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1866900"/>
            <a:ext cx="81610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Computing: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Smartwatches and smartglasses need text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2105025"/>
            <a:ext cx="81610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Constraints: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Space is at a premium on diminutive screens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2343150"/>
            <a:ext cx="81610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Expectations: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Users expect familiar QWERTY layouts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2825651"/>
            <a:ext cx="8382000" cy="728663"/>
          </a:xfrm>
          <a:prstGeom prst="rect">
            <a:avLst/>
          </a:prstGeom>
          <a:solidFill>
            <a:srgbClr val="7DE545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825651"/>
            <a:ext cx="0" cy="728663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3092202"/>
            <a:ext cx="8122158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"Text entry on devices with very small screens becomes increasingly relevant and challenging."— Findlater et al. (2015)</a:t>
            </a:r>
            <a:endParaRPr lang="en-US" sz="14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E2335A0-0EA8-58B4-CDD1-427A084C7CDC}"/>
              </a:ext>
            </a:extLst>
          </p:cNvPr>
          <p:cNvSpPr/>
          <p:nvPr/>
        </p:nvSpPr>
        <p:spPr>
          <a:xfrm>
            <a:off x="381000" y="151269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Virtual Keyboards Matter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Overview: Two Perspectives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987326"/>
            <a:ext cx="4032200" cy="3902273"/>
          </a:xfrm>
          <a:prstGeom prst="roundRect">
            <a:avLst>
              <a:gd name="adj" fmla="val 1953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368326"/>
            <a:ext cx="364650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1: Usability Testing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600" y="1666726"/>
            <a:ext cx="364650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Pangestu et al. (2014)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962001"/>
            <a:ext cx="36465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Usability Evaluation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241352"/>
            <a:ext cx="364650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Investigates learnability and memorability of virtual keyboard interfaces using questionnaire-based usability testing with 68 users.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939355"/>
            <a:ext cx="3646500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How easily can users learn and remember virtual keyboard functions?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30651" y="987326"/>
            <a:ext cx="4032349" cy="3902273"/>
          </a:xfrm>
          <a:prstGeom prst="roundRect">
            <a:avLst>
              <a:gd name="adj" fmla="val 1953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59251" y="1368326"/>
            <a:ext cx="364665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2: Text Entry 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9251" y="1666726"/>
            <a:ext cx="364665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Findlater et al. (2015)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9251" y="1962001"/>
            <a:ext cx="364665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Performance Metrics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59251" y="2241352"/>
            <a:ext cx="3646652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three QWERTY-based techniques (ZoomBoard, Callout, ZShift) for tiny touchscreens using controlled user studies.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9251" y="2939355"/>
            <a:ext cx="3646652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Which technique performs best for different screen sizes?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1047750"/>
            <a:ext cx="2920901" cy="1058763"/>
          </a:xfrm>
          <a:prstGeom prst="roundRect">
            <a:avLst>
              <a:gd name="adj" fmla="val 47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301651"/>
            <a:ext cx="27203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Effectiveness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558826"/>
            <a:ext cx="272034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accurately users accomplish goals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8851" y="1047750"/>
            <a:ext cx="2920901" cy="1058763"/>
          </a:xfrm>
          <a:prstGeom prst="roundRect">
            <a:avLst>
              <a:gd name="adj" fmla="val 47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5802" y="1301651"/>
            <a:ext cx="27203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Efficiency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55802" y="1558826"/>
            <a:ext cx="272034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quickly users perform tasks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2233464"/>
            <a:ext cx="2920901" cy="1058763"/>
          </a:xfrm>
          <a:prstGeom prst="roundRect">
            <a:avLst>
              <a:gd name="adj" fmla="val 47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50" y="2487364"/>
            <a:ext cx="27203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Safety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950" y="2744539"/>
            <a:ext cx="272034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against accidental errors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8851" y="2233464"/>
            <a:ext cx="2920901" cy="1058763"/>
          </a:xfrm>
          <a:prstGeom prst="roundRect">
            <a:avLst>
              <a:gd name="adj" fmla="val 47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55802" y="2487364"/>
            <a:ext cx="27203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Utility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5802" y="2744539"/>
            <a:ext cx="272034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Functionality meets user needs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000" y="3419177"/>
            <a:ext cx="2920901" cy="1058763"/>
          </a:xfrm>
          <a:prstGeom prst="roundRect">
            <a:avLst>
              <a:gd name="adj" fmla="val 47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950" y="3673078"/>
            <a:ext cx="27203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Learnability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950" y="3930253"/>
            <a:ext cx="272034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for novices to accomplish tasks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8851" y="3419177"/>
            <a:ext cx="2920901" cy="1058763"/>
          </a:xfrm>
          <a:prstGeom prst="roundRect">
            <a:avLst>
              <a:gd name="adj" fmla="val 4798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55802" y="3673078"/>
            <a:ext cx="27203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Memorability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55802" y="3930253"/>
            <a:ext cx="272034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re-establish proficiency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3360" y="4477792"/>
            <a:ext cx="8549640" cy="271869"/>
          </a:xfrm>
          <a:prstGeom prst="rect">
            <a:avLst/>
          </a:prstGeom>
          <a:noFill/>
          <a:ln/>
        </p:spPr>
        <p:txBody>
          <a:bodyPr wrap="square" lIns="0" tIns="101600" rIns="0" bIns="0" rtlCol="0" anchor="t">
            <a:spAutoFit/>
          </a:bodyPr>
          <a:lstStyle/>
          <a:p>
            <a:pPr marL="0" indent="0" algn="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Pangestu et al. (2014)</a:t>
            </a:r>
            <a:endParaRPr lang="en-US" sz="11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DE31DA35-DC31-CA90-F85C-21BAF09273EE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691F795C-7EB0-741B-6A97-D6DD01B03F70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Characteristics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987326"/>
            <a:ext cx="2624733" cy="3902273"/>
          </a:xfrm>
          <a:prstGeom prst="roundRect">
            <a:avLst>
              <a:gd name="adj" fmla="val 193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06376"/>
            <a:ext cx="2624733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393627"/>
            <a:ext cx="22886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 Users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1730127"/>
            <a:ext cx="2288607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users who understand task concepts but have low interface knowledge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739330"/>
            <a:ext cx="2243733" cy="10590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663130"/>
            <a:ext cx="2288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Needs: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2500" y="2967930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choices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326127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Informative feedback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2500" y="355461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manuals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384795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tutorials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59634" y="987326"/>
            <a:ext cx="2624733" cy="3902273"/>
          </a:xfrm>
          <a:prstGeom prst="roundRect">
            <a:avLst>
              <a:gd name="adj" fmla="val 193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59634" y="1006376"/>
            <a:ext cx="2624733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0134" y="1393627"/>
            <a:ext cx="228860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Knowledgeable Intermittent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50134" y="1939677"/>
            <a:ext cx="2288607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with stable task concepts and wide interface knowledge, but struggle to remember 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0134" y="2663130"/>
            <a:ext cx="2288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Needs: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50134" y="2948880"/>
            <a:ext cx="2243733" cy="10590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31134" y="2967930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structure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31134" y="326127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interface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31134" y="355461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from errors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31134" y="384795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exploration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38267" y="987326"/>
            <a:ext cx="2624733" cy="3902273"/>
          </a:xfrm>
          <a:prstGeom prst="roundRect">
            <a:avLst>
              <a:gd name="adj" fmla="val 193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38267" y="1006376"/>
            <a:ext cx="2624733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8767" y="1393627"/>
            <a:ext cx="22886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Frequent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28767" y="1730127"/>
            <a:ext cx="2288607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thoroughly familiar with both task concepts and interface interactions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8767" y="2663130"/>
            <a:ext cx="22886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Needs: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8767" y="2948880"/>
            <a:ext cx="2243733" cy="10590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09767" y="2967930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09767" y="326127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support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09767" y="355461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09767" y="3847951"/>
            <a:ext cx="18999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user features</a:t>
            </a:r>
            <a:endParaRPr lang="en-US" sz="105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7300E986-9D5E-6F7C-3464-05AAEB05B45D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2A70F3C8-F950-FB78-14F1-0692D15199A6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Expertise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1044476"/>
            <a:ext cx="8382000" cy="923032"/>
          </a:xfrm>
          <a:prstGeom prst="roundRect">
            <a:avLst>
              <a:gd name="adj" fmla="val 55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0538" y="1399182"/>
            <a:ext cx="34470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251" y="1311027"/>
            <a:ext cx="78502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Button (93-94% success)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251" y="1577727"/>
            <a:ext cx="785027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Well-known by users due to familiarity with physical keyboards. Excellent learnability.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069009"/>
            <a:ext cx="8382000" cy="923032"/>
          </a:xfrm>
          <a:prstGeom prst="roundRect">
            <a:avLst>
              <a:gd name="adj" fmla="val 55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0538" y="2423715"/>
            <a:ext cx="34470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251" y="2335560"/>
            <a:ext cx="78502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"?123" and "ABC" Buttons (97-100%)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251" y="2602260"/>
            <a:ext cx="785027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visual cues help users understand function. Very high recognition rates.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093542"/>
            <a:ext cx="8382000" cy="923032"/>
          </a:xfrm>
          <a:prstGeom prst="roundRect">
            <a:avLst>
              <a:gd name="adj" fmla="val 55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0538" y="3448248"/>
            <a:ext cx="34470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251" y="3360093"/>
            <a:ext cx="78502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"1/3", "2/3", "3/3" Buttons (Confusion)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251" y="3626793"/>
            <a:ext cx="7850276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learnability. Numbers don't mirror what will be shown on screen.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4118074"/>
            <a:ext cx="8382000" cy="685502"/>
          </a:xfrm>
          <a:prstGeom prst="rect">
            <a:avLst/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4118074"/>
            <a:ext cx="0" cy="685502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" y="4371975"/>
            <a:ext cx="8199882" cy="17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Buttons that mirror physical keyboard behavior or provide clear visual cues achieve better usability.</a:t>
            </a:r>
            <a:endParaRPr lang="en-US" sz="11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8B39BF5F-F93F-E2FA-E3EE-C1B3E5D3B21D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238B4C3C-3AB6-CE69-E9BF-4C165323CCDB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 Results (</a:t>
            </a:r>
            <a:r>
              <a:rPr lang="en-US" sz="2800" b="1" dirty="0" err="1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Pangestu</a:t>
            </a: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al.)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962025"/>
            <a:ext cx="2641550" cy="3952875"/>
          </a:xfrm>
          <a:prstGeom prst="roundRect">
            <a:avLst>
              <a:gd name="adj" fmla="val 19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81075"/>
            <a:ext cx="2641550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342876"/>
            <a:ext cx="233187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8701" y="1669852"/>
            <a:ext cx="2331872" cy="707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zooms in when tapped, allowing character selection on enlarged view. Requires 2 taps per character.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701" y="2600979"/>
            <a:ext cx="233187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8701" y="2886729"/>
            <a:ext cx="2286149" cy="24622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9701" y="2915304"/>
            <a:ext cx="194325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magnification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39701" y="3191529"/>
            <a:ext cx="194325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zoom levels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9701" y="3467754"/>
            <a:ext cx="194325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error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8701" y="3753504"/>
            <a:ext cx="233187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Smallest screens (16mm)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51150" y="962025"/>
            <a:ext cx="2641699" cy="3952875"/>
          </a:xfrm>
          <a:prstGeom prst="roundRect">
            <a:avLst>
              <a:gd name="adj" fmla="val 19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51150" y="981075"/>
            <a:ext cx="2641699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8851" y="1342876"/>
            <a:ext cx="233202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8851" y="1669852"/>
            <a:ext cx="2332024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 callout popup above the touched key, displaying the character for confirmation before release.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8851" y="2600979"/>
            <a:ext cx="2332024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28851" y="2886729"/>
            <a:ext cx="2286298" cy="24622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09851" y="2915304"/>
            <a:ext cx="1943404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Single-tap entry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09851" y="3191529"/>
            <a:ext cx="1943404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feedback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09851" y="3467754"/>
            <a:ext cx="1943404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 position adjustable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28851" y="3753504"/>
            <a:ext cx="2332024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Medium screens (24mm)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1450" y="962025"/>
            <a:ext cx="2641550" cy="3952875"/>
          </a:xfrm>
          <a:prstGeom prst="roundRect">
            <a:avLst>
              <a:gd name="adj" fmla="val 19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21450" y="981075"/>
            <a:ext cx="2641550" cy="0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9150" y="1342876"/>
            <a:ext cx="2331872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ZShift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99150" y="1669852"/>
            <a:ext cx="2331872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callout with zoomed view. Shows enlarged copy of occluded area with visual key feedback.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99150" y="2600979"/>
            <a:ext cx="233187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99150" y="2886729"/>
            <a:ext cx="2286149" cy="24622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680150" y="2915304"/>
            <a:ext cx="194325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Zoomed callout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680150" y="3191529"/>
            <a:ext cx="194325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1-step interaction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80150" y="3467754"/>
            <a:ext cx="194325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KSPC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99150" y="3753504"/>
            <a:ext cx="233187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Larger tiny screens (32mm)</a:t>
            </a:r>
            <a:endParaRPr lang="en-US" sz="1050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5C5AB5E4-5E12-C19A-08EF-18AA8933597B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60F2AF52-1D98-B1D0-2DBE-0599A8276D89}"/>
              </a:ext>
            </a:extLst>
          </p:cNvPr>
          <p:cNvSpPr/>
          <p:nvPr/>
        </p:nvSpPr>
        <p:spPr>
          <a:xfrm>
            <a:off x="381000" y="159974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Entry Techniques for Tiny Screens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90231"/>
            <a:ext cx="2667000" cy="4062768"/>
          </a:xfrm>
          <a:prstGeom prst="roundRect">
            <a:avLst>
              <a:gd name="adj" fmla="val 190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252300"/>
            <a:ext cx="2409444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5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Per Minute (WPM)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833325"/>
            <a:ext cx="240944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typing speed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080975"/>
            <a:ext cx="2409444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"word" is defined as 5 consecutive characters including spaces.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3400" y="2712363"/>
            <a:ext cx="2362200" cy="483989"/>
          </a:xfrm>
          <a:prstGeom prst="roundRect">
            <a:avLst>
              <a:gd name="adj" fmla="val 811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600" y="2869719"/>
            <a:ext cx="225399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6 WPM on small screens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38500" y="890231"/>
            <a:ext cx="2667000" cy="4062768"/>
          </a:xfrm>
          <a:prstGeom prst="roundRect">
            <a:avLst>
              <a:gd name="adj" fmla="val 190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0900" y="1252300"/>
            <a:ext cx="2409444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5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Keystrokes Per Character (KSPC)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90900" y="1833325"/>
            <a:ext cx="240944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efficiency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90900" y="2080975"/>
            <a:ext cx="2409444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Device-dependent measure. Lower is better. ZoomBoard has minimum of 2.0.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0900" y="2712363"/>
            <a:ext cx="2362200" cy="483989"/>
          </a:xfrm>
          <a:prstGeom prst="roundRect">
            <a:avLst>
              <a:gd name="adj" fmla="val 811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67100" y="2785080"/>
            <a:ext cx="2253996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Callout/ZShift achieve ~1.5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0" y="890231"/>
            <a:ext cx="2667000" cy="4062768"/>
          </a:xfrm>
          <a:prstGeom prst="roundRect">
            <a:avLst>
              <a:gd name="adj" fmla="val 190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48400" y="1252300"/>
            <a:ext cx="2409444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5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Error Rate (CER)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48400" y="1833325"/>
            <a:ext cx="240944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accuracy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48400" y="2080975"/>
            <a:ext cx="2409444" cy="50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Damerau-Levenshtein distance between submitted and reference text.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8400" y="2712363"/>
            <a:ext cx="2362200" cy="483989"/>
          </a:xfrm>
          <a:prstGeom prst="roundRect">
            <a:avLst>
              <a:gd name="adj" fmla="val 811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24600" y="2785080"/>
            <a:ext cx="2253996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ZoomBoard shows lower CER</a:t>
            </a:r>
            <a:endParaRPr lang="en-US" sz="11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9FEED382-3CB6-3B87-B49F-338B953D0E40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5D4F428-A2F0-DADE-2046-388C5083A6D1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Explained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11239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7DE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945" y="1195387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1114425"/>
            <a:ext cx="796671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Size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1412825"/>
            <a:ext cx="7966710" cy="17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improved as screen size increased. Different screen sizes demand different assistance types.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1000" y="203180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7DE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945" y="2103239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2500" y="2022277"/>
            <a:ext cx="796671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Single-Tap Preferred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2500" y="2320677"/>
            <a:ext cx="7966710" cy="17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preferred techniques requiring 1-step interaction. ZoomBoard's 2-tap approach was "irritating on larger screens."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2939653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7DE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945" y="3011091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930128"/>
            <a:ext cx="796671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3228529"/>
            <a:ext cx="7966710" cy="170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quickly familiarized with all techniques. Learning effects observed across all conditions (R² &gt; 0.8).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000" y="3812530"/>
            <a:ext cx="8382000" cy="1003102"/>
          </a:xfrm>
          <a:prstGeom prst="rect">
            <a:avLst/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812530"/>
            <a:ext cx="0" cy="1003102"/>
          </a:xfrm>
          <a:prstGeom prst="line">
            <a:avLst/>
          </a:prstGeom>
          <a:noFill/>
          <a:ln w="38100">
            <a:solidFill>
              <a:srgbClr val="7DE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4104531"/>
            <a:ext cx="8122158" cy="427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5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Recommendation: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ZoomBoard for very small devices (necklaces, earrings). Use ZShift for mid-sized devices (smartwatches, bracelets).</a:t>
            </a:r>
            <a:endParaRPr lang="en-US" sz="14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C40243D4-1D09-78D0-84B4-F39D62C68347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D1FF11E6-FD9A-B826-FF84-AD5C1CF630CF}"/>
              </a:ext>
            </a:extLst>
          </p:cNvPr>
          <p:cNvSpPr/>
          <p:nvPr/>
        </p:nvSpPr>
        <p:spPr>
          <a:xfrm>
            <a:off x="381000" y="162431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Findings (Findlater et al.)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910590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 Kivy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244501"/>
            <a:ext cx="4064050" cy="779562"/>
          </a:xfrm>
          <a:prstGeom prst="roundRect">
            <a:avLst>
              <a:gd name="adj" fmla="val 651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485751"/>
            <a:ext cx="3886352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Python framework for multitouch applications. Cross-platform support.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1000" y="2115503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Hierarchy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000" y="2449413"/>
            <a:ext cx="406405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0525" y="2449413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551" y="2639913"/>
            <a:ext cx="391883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KeyboardApp (App)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1551" y="2887563"/>
            <a:ext cx="3918838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application class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242965"/>
            <a:ext cx="406405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0525" y="3242965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551" y="3433465"/>
            <a:ext cx="391883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KeyboardDemo (BoxLayout)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551" y="3681115"/>
            <a:ext cx="3918838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widget container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4036516"/>
            <a:ext cx="406405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90525" y="4036516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551" y="4227016"/>
            <a:ext cx="3918838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TextInput + VKeyboard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1551" y="4474666"/>
            <a:ext cx="3918838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display and keyboard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8950" y="910590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698950" y="1244501"/>
            <a:ext cx="4064050" cy="1682353"/>
          </a:xfrm>
          <a:prstGeom prst="roundRect">
            <a:avLst>
              <a:gd name="adj" fmla="val 302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87799" y="1485751"/>
            <a:ext cx="388635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87799" y="1748582"/>
            <a:ext cx="388635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87799" y="2011412"/>
            <a:ext cx="388635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KeyboardDemo (BoxLayout)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7799" y="2274243"/>
            <a:ext cx="388635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TextInput (20%)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87799" y="2537073"/>
            <a:ext cx="388635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VKeyboard (80%)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8950" y="3053804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98950" y="3377654"/>
            <a:ext cx="4064050" cy="5619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9950" y="3406229"/>
            <a:ext cx="375671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layout orientation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9950" y="3606254"/>
            <a:ext cx="375671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key handling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9950" y="3806279"/>
            <a:ext cx="3756711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hints for responsiveness</a:t>
            </a:r>
            <a:endParaRPr lang="en-US" sz="11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DDF4BD9B-5F88-D853-BFD8-1BD887394983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9516126C-4329-10A8-06C8-54086BE40034}"/>
              </a:ext>
            </a:extLst>
          </p:cNvPr>
          <p:cNvSpPr/>
          <p:nvPr/>
        </p:nvSpPr>
        <p:spPr>
          <a:xfrm>
            <a:off x="381000" y="151359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1076325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Statements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349276"/>
            <a:ext cx="4064050" cy="863501"/>
          </a:xfrm>
          <a:prstGeom prst="roundRect">
            <a:avLst>
              <a:gd name="adj" fmla="val 5883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472506"/>
            <a:ext cx="383443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7DE545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from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kivy.app </a:t>
            </a:r>
            <a:r>
              <a:rPr lang="en-US" sz="1000" dirty="0">
                <a:solidFill>
                  <a:srgbClr val="7DE545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App</a:t>
            </a: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from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kivy.uix.boxlayout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import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BoxLayout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from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kivy.uix.textinput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import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TextInput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from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kivy.uix.vkeyboard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import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VKeyboard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1000" y="2365177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Initialization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2638127"/>
            <a:ext cx="4064050" cy="2082701"/>
          </a:xfrm>
          <a:prstGeom prst="roundRect">
            <a:avLst>
              <a:gd name="adj" fmla="val 2439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2765078"/>
            <a:ext cx="3834435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KeyboardDemo(</a:t>
            </a:r>
            <a:r>
              <a:rPr lang="en-US" sz="1000" dirty="0" err="1">
                <a:solidFill>
                  <a:srgbClr val="FFFF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BoxLayout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__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init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__(self, **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kwargs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super().__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init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__(**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kwargs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self.orientation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"vertical"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self.text_input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=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TextInput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multiline=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font_size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=24,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size_hint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=(1, 0.2)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self.keyboard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=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VKeyboard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on_key_up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=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self.key_released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98950" y="1076325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Entry Point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98950" y="1349276"/>
            <a:ext cx="4064050" cy="1015901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1350" y="1472506"/>
            <a:ext cx="3834435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49" charset="0"/>
                <a:ea typeface="Courier New" pitchFamily="34" charset="-122"/>
                <a:cs typeface="Courier New" panose="02070309020205020404" pitchFamily="49" charset="0"/>
              </a:rPr>
              <a:t> KeyboardApp(App):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build(self):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KeyboardDemo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__name__ ==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KeyboardApp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().run()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98950" y="2517577"/>
            <a:ext cx="4145331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98950" y="2790527"/>
            <a:ext cx="4064050" cy="1358652"/>
          </a:xfrm>
          <a:prstGeom prst="roundRect">
            <a:avLst>
              <a:gd name="adj" fmla="val 3739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06901" y="3098453"/>
            <a:ext cx="349773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BoxLayout: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Vertical stacking container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06901" y="3311128"/>
            <a:ext cx="349773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TextInput: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Single-line text display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06901" y="3523804"/>
            <a:ext cx="349773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VKeyboard: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Built-in virtual keyboard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06901" y="3736479"/>
            <a:ext cx="349773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on_key_up: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 callback binding</a:t>
            </a:r>
            <a:endParaRPr lang="en-US" sz="1050" dirty="0"/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9CCDF9B3-76B6-CA84-C92A-09B57F6F2FAB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451A5887-34DC-86DE-D1D8-9E89E08E7E8D}"/>
              </a:ext>
            </a:extLst>
          </p:cNvPr>
          <p:cNvSpPr/>
          <p:nvPr/>
        </p:nvSpPr>
        <p:spPr>
          <a:xfrm>
            <a:off x="381000" y="156107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Walkthrough: Main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920651"/>
            <a:ext cx="5013198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Handler with Keycode Fix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263551"/>
            <a:ext cx="4914900" cy="1587103"/>
          </a:xfrm>
          <a:prstGeom prst="roundRect">
            <a:avLst>
              <a:gd name="adj" fmla="val 3844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64605"/>
            <a:ext cx="4754219" cy="1384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key_released(self, keyboard, keycode, *</a:t>
            </a:r>
            <a:r>
              <a:rPr lang="en-US" sz="10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character from tuple: (97, 'a') -&gt; 'a'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keycode[1]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(keycode, tuple)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keycode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==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'backspace'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[:-1]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==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'spacebar'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(key) == 1: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key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0" y="920651"/>
            <a:ext cx="33421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1100"/>
              </a:spcBef>
              <a:spcAft>
                <a:spcPts val="600"/>
              </a:spcAft>
            </a:pPr>
            <a:r>
              <a:rPr lang="en-US" b="1" dirty="0">
                <a:solidFill>
                  <a:srgbClr val="7DE545"/>
                </a:solidFill>
                <a:latin typeface="Arial" pitchFamily="34" charset="0"/>
                <a:cs typeface="Arial" pitchFamily="34" charset="-120"/>
              </a:rPr>
              <a:t>Feature Breakdown</a:t>
            </a:r>
          </a:p>
        </p:txBody>
      </p:sp>
      <p:sp>
        <p:nvSpPr>
          <p:cNvPr id="16" name="Text 14"/>
          <p:cNvSpPr/>
          <p:nvPr/>
        </p:nvSpPr>
        <p:spPr>
          <a:xfrm>
            <a:off x="5486400" y="1263551"/>
            <a:ext cx="327660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95925" y="1263551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06951" y="1454051"/>
            <a:ext cx="311563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Extraction 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06951" y="1701701"/>
            <a:ext cx="311563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VKeyboard returns (code, char). Extract character.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2057102"/>
            <a:ext cx="327660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95925" y="2057102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06951" y="2247602"/>
            <a:ext cx="311563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Backspace Handling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06951" y="2495252"/>
            <a:ext cx="311563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last character. Supports error correction.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2850654"/>
            <a:ext cx="327660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95925" y="2850654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06951" y="3041154"/>
            <a:ext cx="311563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Spacebar Support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06951" y="3288804"/>
            <a:ext cx="311563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handling for space character.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3644205"/>
            <a:ext cx="327660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495925" y="3644205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06951" y="3834705"/>
            <a:ext cx="311563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06951" y="4082355"/>
            <a:ext cx="311563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len(key)==1 ensures only single chars added.</a:t>
            </a:r>
            <a:endParaRPr lang="en-US" sz="105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ADBC767C-BD62-5A9D-33CD-DE6A34E80492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CAEBB2BD-44D2-F7D3-A2BD-DD64137BB0C5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Technical Features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1083788"/>
            <a:ext cx="3921323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90525" y="1083788"/>
            <a:ext cx="0" cy="724942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1551" y="1274288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Learnability (Pangestu)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1551" y="1509139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need familiar interfaces that leverage existing knowledge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29274" y="1338537"/>
            <a:ext cx="310592" cy="215444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0727" y="1083788"/>
            <a:ext cx="3902273" cy="724942"/>
          </a:xfrm>
          <a:prstGeom prst="roundRect">
            <a:avLst>
              <a:gd name="adj" fmla="val 5256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62227" y="1274288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Implementation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62227" y="1509139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VKeyboard uses standard QWERTY layout familiar to all users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1884930"/>
            <a:ext cx="3921323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0525" y="1884930"/>
            <a:ext cx="0" cy="724942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551" y="2075430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Memorability (Pangestu)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551" y="2310281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button well-known from physical keyboards (93% success)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29274" y="2139679"/>
            <a:ext cx="310592" cy="215444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60727" y="1884930"/>
            <a:ext cx="3902273" cy="724942"/>
          </a:xfrm>
          <a:prstGeom prst="roundRect">
            <a:avLst>
              <a:gd name="adj" fmla="val 5256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62227" y="2075430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Implementation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2227" y="2310281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VKeyboard includes standard shift/caps functionality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1000" y="2686072"/>
            <a:ext cx="3921323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90525" y="2686072"/>
            <a:ext cx="0" cy="724942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551" y="2876572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Correction (Findlater)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1551" y="3111422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need mechanisms to fix typing mistakes efficiently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29274" y="2940821"/>
            <a:ext cx="310592" cy="215444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0727" y="2686072"/>
            <a:ext cx="3902273" cy="724942"/>
          </a:xfrm>
          <a:prstGeom prst="roundRect">
            <a:avLst>
              <a:gd name="adj" fmla="val 5256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62227" y="2876572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Implementation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2227" y="3111422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Backspace handler removes last character with single tap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1000" y="3487213"/>
            <a:ext cx="3921323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90525" y="3487213"/>
            <a:ext cx="0" cy="724942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551" y="3677713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Occlusion Problem (Findlater)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551" y="3912564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 covers target; need visual feedback above keyboard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29274" y="3741962"/>
            <a:ext cx="310592" cy="215444"/>
          </a:xfrm>
          <a:prstGeom prst="rect">
            <a:avLst/>
          </a:prstGeom>
          <a:noFill/>
          <a:ln/>
        </p:spPr>
        <p:txBody>
          <a:bodyPr wrap="square" lIns="63500" tIns="0" rIns="63500" bIns="0" rtlCol="0" anchor="t">
            <a:spAutoFit/>
          </a:bodyPr>
          <a:lstStyle/>
          <a:p>
            <a:pPr marL="0" indent="0" algn="ctr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60727" y="3487213"/>
            <a:ext cx="3902273" cy="724942"/>
          </a:xfrm>
          <a:prstGeom prst="roundRect">
            <a:avLst>
              <a:gd name="adj" fmla="val 5256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62227" y="3677713"/>
            <a:ext cx="377325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Implementation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2227" y="3912564"/>
            <a:ext cx="3773257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TextInput displays above keyboard (Callout-style)</a:t>
            </a:r>
            <a:endParaRPr lang="en-US" sz="105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5225A726-0A5E-EA62-4933-0E4B8CD99C2E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D7E10F6B-1DE6-8FDF-3EF6-086E532D21E0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Research and Implementation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1003250"/>
            <a:ext cx="417766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Lessons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1000" y="1284535"/>
            <a:ext cx="4095750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475035"/>
            <a:ext cx="39706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Familiarity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2501" y="1709886"/>
            <a:ext cx="3970603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QWERTY layout and standard button labels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1000" y="2072877"/>
            <a:ext cx="4095750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501" y="2263377"/>
            <a:ext cx="39706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Visual Feedback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2501" y="2498228"/>
            <a:ext cx="3970603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should indicate what will happen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1000" y="2861220"/>
            <a:ext cx="4095750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501" y="3051720"/>
            <a:ext cx="39706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Technique to Size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2501" y="3286571"/>
            <a:ext cx="3970603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sizes need different approaches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1000" y="3649563"/>
            <a:ext cx="4095750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501" y="3840063"/>
            <a:ext cx="39706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Error Recovery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501" y="4074913"/>
            <a:ext cx="3970603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backspace/correction mechanisms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7250" y="1003250"/>
            <a:ext cx="417766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Insights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7250" y="1284535"/>
            <a:ext cx="4095750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68751" y="1475035"/>
            <a:ext cx="39706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68751" y="1709886"/>
            <a:ext cx="3970603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Kivy's callback system enables clean handling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7250" y="2072877"/>
            <a:ext cx="4095750" cy="724942"/>
          </a:xfrm>
          <a:prstGeom prst="roundRect">
            <a:avLst>
              <a:gd name="adj" fmla="val 525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8751" y="2263377"/>
            <a:ext cx="397060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68751" y="2498228"/>
            <a:ext cx="3970603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isinstance check prevents runtime errors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7250" y="2861220"/>
            <a:ext cx="4095750" cy="1471315"/>
          </a:xfrm>
          <a:prstGeom prst="roundRect">
            <a:avLst>
              <a:gd name="adj" fmla="val 3453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76775" y="2861220"/>
            <a:ext cx="0" cy="1471315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3250" y="3077021"/>
            <a:ext cx="3899255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13250" y="3362771"/>
            <a:ext cx="3822799" cy="24622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>
            <a:spAutoFit/>
          </a:bodyPr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94250" y="3400871"/>
            <a:ext cx="3510635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prediction for improved WPM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4250" y="3586162"/>
            <a:ext cx="3510635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Auto-correction for common typos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94250" y="3771453"/>
            <a:ext cx="3510635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gestures for space/delete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4250" y="3956744"/>
            <a:ext cx="3510635" cy="12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feedback on key press</a:t>
            </a:r>
            <a:endParaRPr lang="en-US" sz="10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C5125852-25AD-A5FB-F417-6B9BDB0404A2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608AC3B-2D7D-1439-6E55-3E2EA2D0CB6D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and Recommendations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920651"/>
            <a:ext cx="497433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1273999"/>
            <a:ext cx="4876800" cy="529530"/>
          </a:xfrm>
          <a:prstGeom prst="roundRect">
            <a:avLst>
              <a:gd name="adj" fmla="val 719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0525" y="1273999"/>
            <a:ext cx="0" cy="52953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  <p:txBody>
          <a:bodyPr>
            <a:spAutoFit/>
          </a:bodyPr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01551" y="1464499"/>
            <a:ext cx="474784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First: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 design must prioritize learnability and memorability.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1866930"/>
            <a:ext cx="4876800" cy="529530"/>
          </a:xfrm>
          <a:prstGeom prst="roundRect">
            <a:avLst>
              <a:gd name="adj" fmla="val 719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90525" y="1866930"/>
            <a:ext cx="0" cy="52953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  <p:txBody>
          <a:bodyPr>
            <a:spAutoFit/>
          </a:bodyPr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501551" y="2057430"/>
            <a:ext cx="474784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Matters: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Screen size determines optimal interaction technique.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459861"/>
            <a:ext cx="4876800" cy="529530"/>
          </a:xfrm>
          <a:prstGeom prst="roundRect">
            <a:avLst>
              <a:gd name="adj" fmla="val 719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0525" y="2459861"/>
            <a:ext cx="0" cy="52953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  <p:txBody>
          <a:bodyPr>
            <a:spAutoFit/>
          </a:bodyPr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501551" y="2650361"/>
            <a:ext cx="474784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Kivy provides effective tools for virtual keyboard apps.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3052792"/>
            <a:ext cx="4876800" cy="529530"/>
          </a:xfrm>
          <a:prstGeom prst="roundRect">
            <a:avLst>
              <a:gd name="adj" fmla="val 719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0525" y="3052792"/>
            <a:ext cx="0" cy="52953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  <p:txBody>
          <a:bodyPr>
            <a:spAutoFit/>
          </a:bodyPr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501551" y="3243292"/>
            <a:ext cx="4747843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to Practice: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Academic research informs implementation decisions.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11701" y="908000"/>
            <a:ext cx="331632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1701" y="1273999"/>
            <a:ext cx="3316325" cy="3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Pangestu, H. (2014).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Usability Testing of Virtual Keyboard in Touch Screen with Questionnaire Method. CommIT, 8(1), 17-21.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11701" y="1665030"/>
            <a:ext cx="331632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9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10.21512/commit.v8i1.591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11701" y="1866930"/>
            <a:ext cx="331632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Findlater, L. et al. (2015).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 Entry on Tiny QWERTY Soft Keyboards. CHI '15, Seoul, Korea.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11701" y="2117561"/>
            <a:ext cx="3316325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9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10.1145/2702123.2702388</a:t>
            </a:r>
            <a:endParaRPr lang="en-US" sz="9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1A6201B3-246E-C38E-C124-28558C5C28B8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3CFCEF2D-E77D-E721-9C46-0A5F37D4E6C9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1" y="828526"/>
            <a:ext cx="40957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64311"/>
            <a:ext cx="409575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90525" y="1164311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000" y="1957863"/>
            <a:ext cx="409575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90525" y="1957863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000" y="2751414"/>
            <a:ext cx="409575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0525" y="2751414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000" y="3544966"/>
            <a:ext cx="4095750" cy="730151"/>
          </a:xfrm>
          <a:prstGeom prst="roundRect">
            <a:avLst>
              <a:gd name="adj" fmla="val 521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90525" y="3544966"/>
            <a:ext cx="0" cy="730151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7250" y="828526"/>
            <a:ext cx="4098417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 Changes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1551" y="1354811"/>
            <a:ext cx="395117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Lock Toggle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1551" y="1602461"/>
            <a:ext cx="395117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and toggle uppercase mode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551" y="2148363"/>
            <a:ext cx="395117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551" y="2396013"/>
            <a:ext cx="395117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flag caps_lock_active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551" y="2941914"/>
            <a:ext cx="395117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Transform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1551" y="3189564"/>
            <a:ext cx="395117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uppercase when active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1551" y="3735466"/>
            <a:ext cx="3951172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Feedback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1551" y="3983116"/>
            <a:ext cx="395117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prints ON/OFF status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7250" y="1164311"/>
            <a:ext cx="4095750" cy="1717434"/>
          </a:xfrm>
          <a:prstGeom prst="roundRect">
            <a:avLst>
              <a:gd name="adj" fmla="val 3407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3450" y="1261281"/>
            <a:ext cx="4022217" cy="1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Track Caps Lock state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.caps_lock_active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==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capslock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.caps_lock_active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\\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.caps_lock_active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(key) == 1: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=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key.upper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\\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.caps_lock_active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.text_input.text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char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BA301C8A-561A-C95B-98D9-D57EA87A408A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4D4F2A81-3CCE-21D5-2F09-5B693634D38C}"/>
              </a:ext>
            </a:extLst>
          </p:cNvPr>
          <p:cNvSpPr/>
          <p:nvPr/>
        </p:nvSpPr>
        <p:spPr>
          <a:xfrm>
            <a:off x="381000" y="152757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Implementation: Caps Lock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964287"/>
            <a:ext cx="417766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Statements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7052"/>
            <a:ext cx="4095750" cy="921841"/>
          </a:xfrm>
          <a:prstGeom prst="roundRect">
            <a:avLst>
              <a:gd name="adj" fmla="val 7446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249787"/>
            <a:ext cx="3970603" cy="51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kivy.app </a:t>
            </a:r>
            <a:r>
              <a:rPr lang="en-US" sz="105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</a:t>
            </a:r>
          </a:p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kivy.uix.boxlayout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kivy.uix.textinput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TextInput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kivy.uix.vkeyboard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VKeyboard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1000" y="2180853"/>
            <a:ext cx="4095750" cy="1187946"/>
          </a:xfrm>
          <a:prstGeom prst="roundRect">
            <a:avLst>
              <a:gd name="adj" fmla="val 3207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0525" y="2180853"/>
            <a:ext cx="0" cy="1187946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551" y="2358554"/>
            <a:ext cx="3951172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 class for Kivy applications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1551" y="2592066"/>
            <a:ext cx="3951172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BoxLayout: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Container for vertical stacking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1551" y="2825577"/>
            <a:ext cx="3951172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TextInput: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Single-line text display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551" y="3059088"/>
            <a:ext cx="3951172" cy="132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VKeyboard: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Virtual keyboard widget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7250" y="964287"/>
            <a:ext cx="417766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Definition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7250" y="1187053"/>
            <a:ext cx="4095750" cy="921841"/>
          </a:xfrm>
          <a:prstGeom prst="roundRect">
            <a:avLst>
              <a:gd name="adj" fmla="val 5511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8751" y="1249787"/>
            <a:ext cx="3970603" cy="796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KeyboardDemo(</a:t>
            </a:r>
            <a:r>
              <a:rPr lang="en-US" sz="10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widget with a permanent virtual keyboard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updates a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TextInput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Supports Caps Lock for uppercase letters.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67250" y="2185095"/>
            <a:ext cx="4095750" cy="619423"/>
          </a:xfrm>
          <a:prstGeom prst="roundRect">
            <a:avLst>
              <a:gd name="adj" fmla="val 6151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76775" y="2185095"/>
            <a:ext cx="0" cy="619423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7801" y="2362796"/>
            <a:ext cx="3951172" cy="26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Inherits from BoxLayout for vertical arrangement of child widgets (TextInput + VKeyboard).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7250" y="3009164"/>
            <a:ext cx="417766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Docstring Purpose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7250" y="3255385"/>
            <a:ext cx="4095750" cy="487412"/>
          </a:xfrm>
          <a:prstGeom prst="roundRect">
            <a:avLst>
              <a:gd name="adj" fmla="val 7817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76775" y="3255385"/>
            <a:ext cx="0" cy="487412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7801" y="3368799"/>
            <a:ext cx="3951172" cy="26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the class purpose, features, and behavior for maintainability.</a:t>
            </a:r>
            <a:endParaRPr lang="en-US" sz="110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679A2F77-50EF-D763-A186-44482756E1BA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69F783CD-BB83-B9DA-04B6-E4FE70D060E9}"/>
              </a:ext>
            </a:extLst>
          </p:cNvPr>
          <p:cNvSpPr/>
          <p:nvPr/>
        </p:nvSpPr>
        <p:spPr>
          <a:xfrm>
            <a:off x="381000" y="152535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Code: Imports and Class Definition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916870"/>
            <a:ext cx="417766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 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3048"/>
            <a:ext cx="4095750" cy="954435"/>
          </a:xfrm>
          <a:prstGeom prst="roundRect">
            <a:avLst>
              <a:gd name="adj" fmla="val 6334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501" y="1275545"/>
            <a:ext cx="3970603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__init__(self, **</a:t>
            </a:r>
            <a:r>
              <a:rPr lang="en-US" sz="10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kwargs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super().__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__(**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kwargs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self.orientation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"vertical"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Track whether Caps Lock is active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self.caps_lock_active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1000" y="2294651"/>
            <a:ext cx="4095750" cy="954435"/>
          </a:xfrm>
          <a:prstGeom prst="roundRect">
            <a:avLst>
              <a:gd name="adj" fmla="val 3992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0525" y="2294651"/>
            <a:ext cx="0" cy="954435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551" y="2472352"/>
            <a:ext cx="3951172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super().__init__: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Call parent class constructor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1551" y="2705863"/>
            <a:ext cx="3951172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Stack children vertically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551" y="2939375"/>
            <a:ext cx="3951172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caps_lock_active: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flag for Caps Lock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7250" y="916870"/>
            <a:ext cx="4177665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 Part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7250" y="1183048"/>
            <a:ext cx="4095750" cy="2154435"/>
          </a:xfrm>
          <a:prstGeom prst="roundRect">
            <a:avLst>
              <a:gd name="adj" fmla="val 2886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68751" y="1259991"/>
            <a:ext cx="3970603" cy="200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 TextInput setup -----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TextInput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multiline=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font_size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=24,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size_hint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=(1, 0.2),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hint_text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"Click here..."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self.add_widget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 Virtual keyboard -----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self.keyboard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VKeyboard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on_key_up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self.key_released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self.add_widget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self.keyboard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7250" y="3483234"/>
            <a:ext cx="4095750" cy="954435"/>
          </a:xfrm>
          <a:prstGeom prst="roundRect">
            <a:avLst>
              <a:gd name="adj" fmla="val 3992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76775" y="3483234"/>
            <a:ext cx="0" cy="954435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7801" y="3660935"/>
            <a:ext cx="3951172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multiline=False: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line input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87801" y="3894446"/>
            <a:ext cx="3951172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size_hint=(1, 0.2):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20% height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87801" y="4127958"/>
            <a:ext cx="3951172" cy="13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on_key_up: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 key release event</a:t>
            </a:r>
            <a:endParaRPr lang="en-US" sz="105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57E1D8E4-BACD-DE59-961E-80136D5D55D1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4DF985FA-A24F-A3A7-5CA9-9A27FB0147E6}"/>
              </a:ext>
            </a:extLst>
          </p:cNvPr>
          <p:cNvSpPr/>
          <p:nvPr/>
        </p:nvSpPr>
        <p:spPr>
          <a:xfrm>
            <a:off x="381000" y="156805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Code: __</a:t>
            </a:r>
            <a:r>
              <a:rPr lang="en-US" sz="2800" b="1" dirty="0" err="1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</a:t>
            </a: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Method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1" y="932768"/>
            <a:ext cx="40957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Signature and Key Extraction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183274"/>
            <a:ext cx="4095750" cy="1231909"/>
          </a:xfrm>
          <a:prstGeom prst="roundRect">
            <a:avLst>
              <a:gd name="adj" fmla="val 638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260619"/>
            <a:ext cx="4022217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key_released(self, keyboard, keycode, *</a:t>
            </a:r>
            <a:r>
              <a:rPr lang="en-US" sz="100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"""Handle key releases from virtual keyboard."""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key symbol from tuple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= keycode[1]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keycode, tuple)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keycode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 pressed:"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key)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1000" y="2517967"/>
            <a:ext cx="4095750" cy="701483"/>
          </a:xfrm>
          <a:prstGeom prst="roundRect">
            <a:avLst>
              <a:gd name="adj" fmla="val 4673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90525" y="2517967"/>
            <a:ext cx="0" cy="701483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50" y="2613319"/>
            <a:ext cx="4002786" cy="12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VKeyboard instance that fired the event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6250" y="2813195"/>
            <a:ext cx="4002786" cy="12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keycode: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Tuple (scancode, symbol) e.g., (97, 'a')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6250" y="3013071"/>
            <a:ext cx="4002786" cy="12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isinstance check: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both tuple and string formats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7251" y="932768"/>
            <a:ext cx="408622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Lock Handler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7250" y="1183274"/>
            <a:ext cx="4095750" cy="1231909"/>
          </a:xfrm>
          <a:prstGeom prst="roundRect">
            <a:avLst>
              <a:gd name="adj" fmla="val 5622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3450" y="1260619"/>
            <a:ext cx="4022217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== </a:t>
            </a: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r>
              <a:rPr lang="en-US" sz="1000" dirty="0" err="1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capslock</a:t>
            </a: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’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Toggle Caps Lock state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self.caps_lock_active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\\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self.caps_lock_active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"Caps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Lock {'ON' if ... else 'OFF'}"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67250" y="2513931"/>
            <a:ext cx="4095750" cy="463153"/>
          </a:xfrm>
          <a:prstGeom prst="roundRect">
            <a:avLst>
              <a:gd name="adj" fmla="val 6191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76775" y="2513931"/>
            <a:ext cx="0" cy="463153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2500" y="2590056"/>
            <a:ext cx="4002786" cy="12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operator flips boolean state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62500" y="2789932"/>
            <a:ext cx="4002786" cy="12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Print status for debugging</a:t>
            </a:r>
            <a:endParaRPr lang="en-US" sz="1100" dirty="0"/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4942FEF2-FD44-7027-538E-F90D41AF20E6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68A4D756-753E-A600-4901-312E6BF36F62}"/>
              </a:ext>
            </a:extLst>
          </p:cNvPr>
          <p:cNvSpPr/>
          <p:nvPr/>
        </p:nvSpPr>
        <p:spPr>
          <a:xfrm>
            <a:off x="381000" y="151419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Code: Key Handler Method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1" y="932768"/>
            <a:ext cx="40957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Keys - Backspace and Space</a:t>
            </a:r>
          </a:p>
        </p:txBody>
      </p:sp>
      <p:sp>
        <p:nvSpPr>
          <p:cNvPr id="5" name="Text 3"/>
          <p:cNvSpPr/>
          <p:nvPr/>
        </p:nvSpPr>
        <p:spPr>
          <a:xfrm>
            <a:off x="381000" y="1183275"/>
            <a:ext cx="4095750" cy="998548"/>
          </a:xfrm>
          <a:prstGeom prst="roundRect">
            <a:avLst>
              <a:gd name="adj" fmla="val 6380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297829"/>
            <a:ext cx="4022217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==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'backspace’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[:-1]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==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'spacebar'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67251" y="932768"/>
            <a:ext cx="408622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Input with Caps Lock</a:t>
            </a:r>
          </a:p>
        </p:txBody>
      </p:sp>
      <p:sp>
        <p:nvSpPr>
          <p:cNvPr id="28" name="Text 26"/>
          <p:cNvSpPr/>
          <p:nvPr/>
        </p:nvSpPr>
        <p:spPr>
          <a:xfrm>
            <a:off x="4667250" y="1183275"/>
            <a:ext cx="4095750" cy="998548"/>
          </a:xfrm>
          <a:prstGeom prst="roundRect">
            <a:avLst>
              <a:gd name="adj" fmla="val 5622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3450" y="1297829"/>
            <a:ext cx="4022217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(key) == 1:</a:t>
            </a: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Caps Lock if active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=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key.upper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\\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self.caps_lock_active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self.text_input.text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+= char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0">
            <a:extLst>
              <a:ext uri="{FF2B5EF4-FFF2-40B4-BE49-F238E27FC236}">
                <a16:creationId xmlns:a16="http://schemas.microsoft.com/office/drawing/2014/main" id="{4942FEF2-FD44-7027-538E-F90D41AF20E6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68A4D756-753E-A600-4901-312E6BF36F62}"/>
              </a:ext>
            </a:extLst>
          </p:cNvPr>
          <p:cNvSpPr/>
          <p:nvPr/>
        </p:nvSpPr>
        <p:spPr>
          <a:xfrm>
            <a:off x="381000" y="151419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Code: Key Handler Method</a:t>
            </a:r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EDCE7DD9-F365-000E-CB7E-894D0C44E662}"/>
              </a:ext>
            </a:extLst>
          </p:cNvPr>
          <p:cNvSpPr/>
          <p:nvPr/>
        </p:nvSpPr>
        <p:spPr>
          <a:xfrm>
            <a:off x="381000" y="2296377"/>
            <a:ext cx="4095750" cy="615404"/>
          </a:xfrm>
          <a:prstGeom prst="roundRect">
            <a:avLst>
              <a:gd name="adj" fmla="val 6191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22">
            <a:extLst>
              <a:ext uri="{FF2B5EF4-FFF2-40B4-BE49-F238E27FC236}">
                <a16:creationId xmlns:a16="http://schemas.microsoft.com/office/drawing/2014/main" id="{65DAC3C0-D2EE-5A58-5683-0E430E76A728}"/>
              </a:ext>
            </a:extLst>
          </p:cNvPr>
          <p:cNvSpPr/>
          <p:nvPr/>
        </p:nvSpPr>
        <p:spPr>
          <a:xfrm>
            <a:off x="390525" y="2296377"/>
            <a:ext cx="0" cy="6154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27C4613B-03A5-4F98-0DFC-B51425AB0DE8}"/>
              </a:ext>
            </a:extLst>
          </p:cNvPr>
          <p:cNvSpPr/>
          <p:nvPr/>
        </p:nvSpPr>
        <p:spPr>
          <a:xfrm>
            <a:off x="476250" y="2448628"/>
            <a:ext cx="4002786" cy="12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backspace: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 last char with slice [:-1]</a:t>
            </a:r>
            <a:endParaRPr lang="en-US" sz="1200" dirty="0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AAC6D33E-79F4-EA71-A7B0-646C298F1DD0}"/>
              </a:ext>
            </a:extLst>
          </p:cNvPr>
          <p:cNvSpPr/>
          <p:nvPr/>
        </p:nvSpPr>
        <p:spPr>
          <a:xfrm>
            <a:off x="476250" y="2648504"/>
            <a:ext cx="4002786" cy="12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spacebar: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space character explicitly</a:t>
            </a:r>
            <a:endParaRPr lang="en-US" sz="1200" dirty="0"/>
          </a:p>
        </p:txBody>
      </p:sp>
      <p:sp>
        <p:nvSpPr>
          <p:cNvPr id="21" name="Text 45">
            <a:extLst>
              <a:ext uri="{FF2B5EF4-FFF2-40B4-BE49-F238E27FC236}">
                <a16:creationId xmlns:a16="http://schemas.microsoft.com/office/drawing/2014/main" id="{8D50477A-F94A-549C-6066-8BF0E07A605F}"/>
              </a:ext>
            </a:extLst>
          </p:cNvPr>
          <p:cNvSpPr/>
          <p:nvPr/>
        </p:nvSpPr>
        <p:spPr>
          <a:xfrm>
            <a:off x="4667250" y="2296377"/>
            <a:ext cx="4095750" cy="815280"/>
          </a:xfrm>
          <a:prstGeom prst="roundRect">
            <a:avLst>
              <a:gd name="adj" fmla="val 4673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46">
            <a:extLst>
              <a:ext uri="{FF2B5EF4-FFF2-40B4-BE49-F238E27FC236}">
                <a16:creationId xmlns:a16="http://schemas.microsoft.com/office/drawing/2014/main" id="{C7F6440E-FBDF-DEF1-0768-6CA800DED8C5}"/>
              </a:ext>
            </a:extLst>
          </p:cNvPr>
          <p:cNvSpPr/>
          <p:nvPr/>
        </p:nvSpPr>
        <p:spPr>
          <a:xfrm>
            <a:off x="4676775" y="2296377"/>
            <a:ext cx="0" cy="815280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3" name="Text 47">
            <a:extLst>
              <a:ext uri="{FF2B5EF4-FFF2-40B4-BE49-F238E27FC236}">
                <a16:creationId xmlns:a16="http://schemas.microsoft.com/office/drawing/2014/main" id="{C3BE1229-BBDB-D83D-E559-E0E08CF717A2}"/>
              </a:ext>
            </a:extLst>
          </p:cNvPr>
          <p:cNvSpPr/>
          <p:nvPr/>
        </p:nvSpPr>
        <p:spPr>
          <a:xfrm>
            <a:off x="4762500" y="2448628"/>
            <a:ext cx="4002786" cy="12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len(key)==1: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Filter single-character keys only</a:t>
            </a:r>
            <a:endParaRPr lang="en-US" sz="1200" dirty="0"/>
          </a:p>
        </p:txBody>
      </p:sp>
      <p:sp>
        <p:nvSpPr>
          <p:cNvPr id="24" name="Text 48">
            <a:extLst>
              <a:ext uri="{FF2B5EF4-FFF2-40B4-BE49-F238E27FC236}">
                <a16:creationId xmlns:a16="http://schemas.microsoft.com/office/drawing/2014/main" id="{937722F8-8B23-B483-8F4B-ACD277664DFE}"/>
              </a:ext>
            </a:extLst>
          </p:cNvPr>
          <p:cNvSpPr/>
          <p:nvPr/>
        </p:nvSpPr>
        <p:spPr>
          <a:xfrm>
            <a:off x="4762500" y="2648504"/>
            <a:ext cx="4002786" cy="12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.upper():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Convert to uppercase when active</a:t>
            </a:r>
            <a:endParaRPr lang="en-US" sz="1200" dirty="0"/>
          </a:p>
        </p:txBody>
      </p:sp>
      <p:sp>
        <p:nvSpPr>
          <p:cNvPr id="25" name="Text 49">
            <a:extLst>
              <a:ext uri="{FF2B5EF4-FFF2-40B4-BE49-F238E27FC236}">
                <a16:creationId xmlns:a16="http://schemas.microsoft.com/office/drawing/2014/main" id="{652119B7-C9D7-BCAF-509F-B13AE509D6AD}"/>
              </a:ext>
            </a:extLst>
          </p:cNvPr>
          <p:cNvSpPr/>
          <p:nvPr/>
        </p:nvSpPr>
        <p:spPr>
          <a:xfrm>
            <a:off x="4762500" y="2848380"/>
            <a:ext cx="4002786" cy="12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75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+= char: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Append character to text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20395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41177"/>
            <a:ext cx="414533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KeyboardApp Class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069777"/>
            <a:ext cx="4064050" cy="1320701"/>
          </a:xfrm>
          <a:prstGeom prst="roundRect">
            <a:avLst>
              <a:gd name="adj" fmla="val 3846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191518"/>
            <a:ext cx="3886352" cy="10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KeyboardApp(App):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Kivy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 that displays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KeyboardDemo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widget.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A50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build(self):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DE545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KeyboardDemo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1000" y="2491978"/>
            <a:ext cx="4064050" cy="1140172"/>
          </a:xfrm>
          <a:prstGeom prst="roundRect">
            <a:avLst>
              <a:gd name="adj" fmla="val 3342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0525" y="2491978"/>
            <a:ext cx="0" cy="1140172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000" y="2707779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 class required for all Kivy applications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7000" y="2982069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build():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Returns the root widget to display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7000" y="3256359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KeyboardDemo():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Instantiates our custom widget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98950" y="841177"/>
            <a:ext cx="414533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98950" y="1069777"/>
            <a:ext cx="4064050" cy="558701"/>
          </a:xfrm>
          <a:prstGeom prst="roundRect">
            <a:avLst>
              <a:gd name="adj" fmla="val 9093"/>
            </a:avLst>
          </a:prstGeom>
          <a:solidFill>
            <a:srgbClr val="0D1B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901" y="1191518"/>
            <a:ext cx="3886352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DE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__name__ == </a:t>
            </a:r>
            <a:r>
              <a:rPr lang="en-US" sz="100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KeyboardApp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().run()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98950" y="1729978"/>
            <a:ext cx="4064050" cy="865882"/>
          </a:xfrm>
          <a:prstGeom prst="roundRect">
            <a:avLst>
              <a:gd name="adj" fmla="val 4400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08475" y="1729978"/>
            <a:ext cx="0" cy="865882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4951" y="1945779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__name__ check: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runs when script executed directly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4951" y="2220069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.run():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Starts the Kivy application event loop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8950" y="2748260"/>
            <a:ext cx="414533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98950" y="3002161"/>
            <a:ext cx="4064050" cy="1414463"/>
          </a:xfrm>
          <a:prstGeom prst="roundRect">
            <a:avLst>
              <a:gd name="adj" fmla="val 2694"/>
            </a:avLst>
          </a:prstGeom>
          <a:solidFill>
            <a:srgbClr val="7DE54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08475" y="3002161"/>
            <a:ext cx="0" cy="1414463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4951" y="3217962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Python loads the script and creates KeyboardApp instance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4951" y="3492252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.run() initializes Kivy and calls build()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4951" y="3766542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KeyboardDemo widget tree is created and displayed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4951" y="4040832"/>
            <a:ext cx="3866921" cy="166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Event loop waits for user interaction (key presses)</a:t>
            </a:r>
            <a:endParaRPr lang="en-US" sz="11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6D1B9F8E-31D6-5079-1F80-99EF2E52F034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FBB0480B-161A-5949-0310-B54F17BFF3C6}"/>
              </a:ext>
            </a:extLst>
          </p:cNvPr>
          <p:cNvSpPr/>
          <p:nvPr/>
        </p:nvSpPr>
        <p:spPr>
          <a:xfrm>
            <a:off x="381000" y="156806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Code: App Class and Entry Point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1000" y="803077"/>
            <a:ext cx="408487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1873" y="1049298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1398" y="1049298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9773" y="1174708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KeyboardDemo (BoxLayout)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9773" y="1390509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container with vertical layout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1873" y="1728252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1398" y="1728252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773" y="1853662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TextInput (20% height)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9773" y="2069463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Single-line text display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1873" y="2407206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1398" y="2407206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773" y="2532616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VKeyboard (80% height)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9773" y="2748417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QWERTY virtual keyboard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1873" y="3136910"/>
            <a:ext cx="408487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1398" y="3400262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10923" y="3400262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298" y="3525672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taps key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9298" y="3741473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VKeyboard fires on_key_up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1398" y="4079216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10923" y="4079216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298" y="4204627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key_released callback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9298" y="4420427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keycode, updates text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7250" y="803077"/>
            <a:ext cx="4084879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Handling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78123" y="1049298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87648" y="1049298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6023" y="1174708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Backspace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6023" y="1390509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last char via slicing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78123" y="1728252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87648" y="1728252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6023" y="1853662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Spacebar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86023" y="2069463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space character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78123" y="2407206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687648" y="2407206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6023" y="2532616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Lock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86023" y="2748417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uppercase mode flag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78123" y="3086160"/>
            <a:ext cx="4095750" cy="628204"/>
          </a:xfrm>
          <a:prstGeom prst="roundRect">
            <a:avLst>
              <a:gd name="adj" fmla="val 404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687648" y="3086160"/>
            <a:ext cx="0" cy="628204"/>
          </a:xfrm>
          <a:prstGeom prst="line">
            <a:avLst/>
          </a:prstGeom>
          <a:noFill/>
          <a:ln w="19050">
            <a:solidFill>
              <a:srgbClr val="7DE5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6023" y="3211571"/>
            <a:ext cx="3976979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86023" y="3427371"/>
            <a:ext cx="3976979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uppercase if Caps Lock active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78123" y="3777764"/>
            <a:ext cx="4095750" cy="619423"/>
          </a:xfrm>
          <a:prstGeom prst="roundRect">
            <a:avLst>
              <a:gd name="adj" fmla="val 6151"/>
            </a:avLst>
          </a:prstGeom>
          <a:solidFill>
            <a:srgbClr val="7DE545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79624" y="3918198"/>
            <a:ext cx="3970603" cy="3385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Fix: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keycode is tuple (scancode, symbol). Use isinstance check to extract symbol safely.</a:t>
            </a:r>
            <a:endParaRPr lang="en-US" sz="1100" dirty="0"/>
          </a:p>
        </p:txBody>
      </p:sp>
      <p:sp>
        <p:nvSpPr>
          <p:cNvPr id="45" name="Text 0">
            <a:extLst>
              <a:ext uri="{FF2B5EF4-FFF2-40B4-BE49-F238E27FC236}">
                <a16:creationId xmlns:a16="http://schemas.microsoft.com/office/drawing/2014/main" id="{5F4B1CC1-588B-A57A-AEE5-B746C0FD234D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1572205-9ABD-3FA0-1DDE-BB6A9293BD92}"/>
              </a:ext>
            </a:extLst>
          </p:cNvPr>
          <p:cNvSpPr/>
          <p:nvPr/>
        </p:nvSpPr>
        <p:spPr>
          <a:xfrm>
            <a:off x="381000" y="161494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Implementation Summary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>
            <a:extLst>
              <a:ext uri="{FF2B5EF4-FFF2-40B4-BE49-F238E27FC236}">
                <a16:creationId xmlns:a16="http://schemas.microsoft.com/office/drawing/2014/main" id="{5F4B1CC1-588B-A57A-AEE5-B746C0FD234D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1572205-9ABD-3FA0-1DDE-BB6A9293BD92}"/>
              </a:ext>
            </a:extLst>
          </p:cNvPr>
          <p:cNvSpPr/>
          <p:nvPr/>
        </p:nvSpPr>
        <p:spPr>
          <a:xfrm>
            <a:off x="381000" y="161494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AEB8669-D4CE-3F6C-0CB7-04757F5F2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899653"/>
            <a:ext cx="8717280" cy="402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842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>
            <a:extLst>
              <a:ext uri="{FF2B5EF4-FFF2-40B4-BE49-F238E27FC236}">
                <a16:creationId xmlns:a16="http://schemas.microsoft.com/office/drawing/2014/main" id="{5F4B1CC1-588B-A57A-AEE5-B746C0FD234D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1572205-9ABD-3FA0-1DDE-BB6A9293BD92}"/>
              </a:ext>
            </a:extLst>
          </p:cNvPr>
          <p:cNvSpPr/>
          <p:nvPr/>
        </p:nvSpPr>
        <p:spPr>
          <a:xfrm>
            <a:off x="381000" y="161494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(Key Press Flow)</a:t>
            </a:r>
            <a:endParaRPr lang="en-US" sz="2800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69DB4AE-9339-5883-8F83-2C54B6F7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" y="808805"/>
            <a:ext cx="8717280" cy="418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09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>
            <a:extLst>
              <a:ext uri="{FF2B5EF4-FFF2-40B4-BE49-F238E27FC236}">
                <a16:creationId xmlns:a16="http://schemas.microsoft.com/office/drawing/2014/main" id="{5F4B1CC1-588B-A57A-AEE5-B746C0FD234D}"/>
              </a:ext>
            </a:extLst>
          </p:cNvPr>
          <p:cNvSpPr/>
          <p:nvPr/>
        </p:nvSpPr>
        <p:spPr>
          <a:xfrm>
            <a:off x="0" y="5537"/>
            <a:ext cx="9144000" cy="733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1572205-9ABD-3FA0-1DDE-BB6A9293BD92}"/>
              </a:ext>
            </a:extLst>
          </p:cNvPr>
          <p:cNvSpPr/>
          <p:nvPr/>
        </p:nvSpPr>
        <p:spPr>
          <a:xfrm>
            <a:off x="381000" y="161494"/>
            <a:ext cx="8549640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of </a:t>
            </a:r>
            <a:r>
              <a:rPr lang="en-US" sz="2800" b="1" dirty="0" err="1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key_released</a:t>
            </a:r>
            <a:r>
              <a:rPr lang="en-US" sz="2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39CE72-9717-ABC8-E39C-472AE9131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984" y="859719"/>
            <a:ext cx="3442032" cy="415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50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2392</Words>
  <Application>Microsoft Office PowerPoint</Application>
  <PresentationFormat>On-screen Show (16:9)</PresentationFormat>
  <Paragraphs>415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Virtual_Keyboard_Research_Presentation_updated</dc:title>
  <dc:creator>Mahmoud Atta; Adel Rafaat</dc:creator>
  <cp:lastModifiedBy>Mahmoud Atta</cp:lastModifiedBy>
  <cp:revision>14</cp:revision>
  <dcterms:created xsi:type="dcterms:W3CDTF">2026-03-25T21:49:16Z</dcterms:created>
  <dcterms:modified xsi:type="dcterms:W3CDTF">2026-03-26T08:34:18Z</dcterms:modified>
</cp:coreProperties>
</file>